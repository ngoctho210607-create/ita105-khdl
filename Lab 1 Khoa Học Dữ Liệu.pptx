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ượng Bùi Văn" initials="LB" lastIdx="1" clrIdx="0">
    <p:extLst>
      <p:ext uri="{19B8F6BF-5375-455C-9EA6-DF929625EA0E}">
        <p15:presenceInfo xmlns:p15="http://schemas.microsoft.com/office/powerpoint/2012/main" userId="58421d7501400e0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702" autoAdjust="0"/>
  </p:normalViewPr>
  <p:slideViewPr>
    <p:cSldViewPr snapToGrid="0">
      <p:cViewPr varScale="1">
        <p:scale>
          <a:sx n="81" d="100"/>
          <a:sy n="81" d="100"/>
        </p:scale>
        <p:origin x="662"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4" d="100"/>
          <a:sy n="74" d="100"/>
        </p:scale>
        <p:origin x="297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ượng Bùi Văn" userId="58421d7501400e0a" providerId="LiveId" clId="{23BD1B95-C817-4D02-BBA9-E96DC847A989}"/>
    <pc:docChg chg="custSel addSld modSld">
      <pc:chgData name="Lượng Bùi Văn" userId="58421d7501400e0a" providerId="LiveId" clId="{23BD1B95-C817-4D02-BBA9-E96DC847A989}" dt="2026-03-12T16:15:53.951" v="7258" actId="14100"/>
      <pc:docMkLst>
        <pc:docMk/>
      </pc:docMkLst>
      <pc:sldChg chg="addSp modSp mod">
        <pc:chgData name="Lượng Bùi Văn" userId="58421d7501400e0a" providerId="LiveId" clId="{23BD1B95-C817-4D02-BBA9-E96DC847A989}" dt="2026-03-12T15:55:44.899" v="4850" actId="115"/>
        <pc:sldMkLst>
          <pc:docMk/>
          <pc:sldMk cId="1323883542" sldId="260"/>
        </pc:sldMkLst>
        <pc:spChg chg="add mod">
          <ac:chgData name="Lượng Bùi Văn" userId="58421d7501400e0a" providerId="LiveId" clId="{23BD1B95-C817-4D02-BBA9-E96DC847A989}" dt="2026-03-12T15:55:35.272" v="4848" actId="1076"/>
          <ac:spMkLst>
            <pc:docMk/>
            <pc:sldMk cId="1323883542" sldId="260"/>
            <ac:spMk id="3" creationId="{F77108B7-2408-99FC-D0BA-A616C2843CB7}"/>
          </ac:spMkLst>
        </pc:spChg>
        <pc:spChg chg="add mod">
          <ac:chgData name="Lượng Bùi Văn" userId="58421d7501400e0a" providerId="LiveId" clId="{23BD1B95-C817-4D02-BBA9-E96DC847A989}" dt="2026-03-12T15:55:44.899" v="4850" actId="115"/>
          <ac:spMkLst>
            <pc:docMk/>
            <pc:sldMk cId="1323883542" sldId="260"/>
            <ac:spMk id="4" creationId="{1A425742-E0B3-269B-BD79-76B8ADFB689B}"/>
          </ac:spMkLst>
        </pc:spChg>
      </pc:sldChg>
      <pc:sldChg chg="addSp delSp modSp new mod">
        <pc:chgData name="Lượng Bùi Văn" userId="58421d7501400e0a" providerId="LiveId" clId="{23BD1B95-C817-4D02-BBA9-E96DC847A989}" dt="2026-03-12T15:55:59.884" v="4857" actId="207"/>
        <pc:sldMkLst>
          <pc:docMk/>
          <pc:sldMk cId="222345981" sldId="261"/>
        </pc:sldMkLst>
        <pc:spChg chg="add mod">
          <ac:chgData name="Lượng Bùi Văn" userId="58421d7501400e0a" providerId="LiveId" clId="{23BD1B95-C817-4D02-BBA9-E96DC847A989}" dt="2026-03-12T15:12:57.124" v="2399" actId="1076"/>
          <ac:spMkLst>
            <pc:docMk/>
            <pc:sldMk cId="222345981" sldId="261"/>
            <ac:spMk id="2" creationId="{BA92DE5E-C8F1-61E2-5B6E-ADD961F2CF47}"/>
          </ac:spMkLst>
        </pc:spChg>
        <pc:spChg chg="add mod">
          <ac:chgData name="Lượng Bùi Văn" userId="58421d7501400e0a" providerId="LiveId" clId="{23BD1B95-C817-4D02-BBA9-E96DC847A989}" dt="2026-03-12T15:55:55.195" v="4854" actId="207"/>
          <ac:spMkLst>
            <pc:docMk/>
            <pc:sldMk cId="222345981" sldId="261"/>
            <ac:spMk id="3" creationId="{EDED19AB-A67E-C52E-7C65-8A25F1249303}"/>
          </ac:spMkLst>
        </pc:spChg>
        <pc:spChg chg="add del mod">
          <ac:chgData name="Lượng Bùi Văn" userId="58421d7501400e0a" providerId="LiveId" clId="{23BD1B95-C817-4D02-BBA9-E96DC847A989}" dt="2026-03-12T15:32:17.053" v="3407"/>
          <ac:spMkLst>
            <pc:docMk/>
            <pc:sldMk cId="222345981" sldId="261"/>
            <ac:spMk id="4" creationId="{FDC51A45-1842-9A71-3194-573F9D18D944}"/>
          </ac:spMkLst>
        </pc:spChg>
        <pc:spChg chg="add mod">
          <ac:chgData name="Lượng Bùi Văn" userId="58421d7501400e0a" providerId="LiveId" clId="{23BD1B95-C817-4D02-BBA9-E96DC847A989}" dt="2026-03-12T15:55:59.884" v="4857" actId="207"/>
          <ac:spMkLst>
            <pc:docMk/>
            <pc:sldMk cId="222345981" sldId="261"/>
            <ac:spMk id="5" creationId="{33175B86-B845-6376-6576-14052D0030E5}"/>
          </ac:spMkLst>
        </pc:spChg>
      </pc:sldChg>
      <pc:sldChg chg="addSp modSp new mod">
        <pc:chgData name="Lượng Bùi Văn" userId="58421d7501400e0a" providerId="LiveId" clId="{23BD1B95-C817-4D02-BBA9-E96DC847A989}" dt="2026-03-12T16:09:04.658" v="6529" actId="1076"/>
        <pc:sldMkLst>
          <pc:docMk/>
          <pc:sldMk cId="4291796433" sldId="262"/>
        </pc:sldMkLst>
        <pc:spChg chg="add mod">
          <ac:chgData name="Lượng Bùi Văn" userId="58421d7501400e0a" providerId="LiveId" clId="{23BD1B95-C817-4D02-BBA9-E96DC847A989}" dt="2026-03-12T15:54:59.363" v="4842" actId="1076"/>
          <ac:spMkLst>
            <pc:docMk/>
            <pc:sldMk cId="4291796433" sldId="262"/>
            <ac:spMk id="2" creationId="{B8D5510F-E612-8823-3B34-3A7F05159719}"/>
          </ac:spMkLst>
        </pc:spChg>
        <pc:spChg chg="add mod">
          <ac:chgData name="Lượng Bùi Văn" userId="58421d7501400e0a" providerId="LiveId" clId="{23BD1B95-C817-4D02-BBA9-E96DC847A989}" dt="2026-03-12T16:09:04.658" v="6529" actId="1076"/>
          <ac:spMkLst>
            <pc:docMk/>
            <pc:sldMk cId="4291796433" sldId="262"/>
            <ac:spMk id="4" creationId="{A2D194A6-C30F-EB6A-576A-0C6AFC09B502}"/>
          </ac:spMkLst>
        </pc:spChg>
        <pc:spChg chg="add mod">
          <ac:chgData name="Lượng Bùi Văn" userId="58421d7501400e0a" providerId="LiveId" clId="{23BD1B95-C817-4D02-BBA9-E96DC847A989}" dt="2026-03-12T16:08:58.019" v="6528" actId="1076"/>
          <ac:spMkLst>
            <pc:docMk/>
            <pc:sldMk cId="4291796433" sldId="262"/>
            <ac:spMk id="5" creationId="{FAC96C21-6FF5-6EEF-5436-EAF8B5FFC931}"/>
          </ac:spMkLst>
        </pc:spChg>
        <pc:picChg chg="add mod">
          <ac:chgData name="Lượng Bùi Văn" userId="58421d7501400e0a" providerId="LiveId" clId="{23BD1B95-C817-4D02-BBA9-E96DC847A989}" dt="2026-03-12T15:57:25.087" v="4875" actId="1076"/>
          <ac:picMkLst>
            <pc:docMk/>
            <pc:sldMk cId="4291796433" sldId="262"/>
            <ac:picMk id="3" creationId="{CD91C5BC-4F54-387B-D836-0A1B8561581A}"/>
          </ac:picMkLst>
        </pc:picChg>
      </pc:sldChg>
      <pc:sldChg chg="addSp modSp new mod">
        <pc:chgData name="Lượng Bùi Văn" userId="58421d7501400e0a" providerId="LiveId" clId="{23BD1B95-C817-4D02-BBA9-E96DC847A989}" dt="2026-03-12T16:15:53.951" v="7258" actId="14100"/>
        <pc:sldMkLst>
          <pc:docMk/>
          <pc:sldMk cId="1432901700" sldId="263"/>
        </pc:sldMkLst>
        <pc:spChg chg="add mod">
          <ac:chgData name="Lượng Bùi Văn" userId="58421d7501400e0a" providerId="LiveId" clId="{23BD1B95-C817-4D02-BBA9-E96DC847A989}" dt="2026-03-12T16:09:47.396" v="6586" actId="1076"/>
          <ac:spMkLst>
            <pc:docMk/>
            <pc:sldMk cId="1432901700" sldId="263"/>
            <ac:spMk id="2" creationId="{F86E4E9C-56B6-D041-98AD-D1B4E9809F10}"/>
          </ac:spMkLst>
        </pc:spChg>
        <pc:spChg chg="add mod">
          <ac:chgData name="Lượng Bùi Văn" userId="58421d7501400e0a" providerId="LiveId" clId="{23BD1B95-C817-4D02-BBA9-E96DC847A989}" dt="2026-03-12T16:15:53.951" v="7258" actId="14100"/>
          <ac:spMkLst>
            <pc:docMk/>
            <pc:sldMk cId="1432901700" sldId="263"/>
            <ac:spMk id="3" creationId="{28DA7C9C-EC84-ED22-6B33-67DC74C3A50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B3574-3F8A-4E8E-9565-639E2D8478BF}"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DCC85E-9881-4DC6-9A59-AD1CEB16E82C}" type="slidenum">
              <a:rPr lang="en-US" smtClean="0"/>
              <a:t>‹#›</a:t>
            </a:fld>
            <a:endParaRPr lang="en-US"/>
          </a:p>
        </p:txBody>
      </p:sp>
    </p:spTree>
    <p:extLst>
      <p:ext uri="{BB962C8B-B14F-4D97-AF65-F5344CB8AC3E}">
        <p14:creationId xmlns:p14="http://schemas.microsoft.com/office/powerpoint/2010/main" val="264464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DCC85E-9881-4DC6-9A59-AD1CEB16E82C}" type="slidenum">
              <a:rPr lang="en-US" smtClean="0"/>
              <a:t>1</a:t>
            </a:fld>
            <a:endParaRPr lang="en-US"/>
          </a:p>
        </p:txBody>
      </p:sp>
    </p:spTree>
    <p:extLst>
      <p:ext uri="{BB962C8B-B14F-4D97-AF65-F5344CB8AC3E}">
        <p14:creationId xmlns:p14="http://schemas.microsoft.com/office/powerpoint/2010/main" val="3815743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DCC85E-9881-4DC6-9A59-AD1CEB16E82C}" type="slidenum">
              <a:rPr lang="en-US" smtClean="0"/>
              <a:t>3</a:t>
            </a:fld>
            <a:endParaRPr lang="en-US"/>
          </a:p>
        </p:txBody>
      </p:sp>
    </p:spTree>
    <p:extLst>
      <p:ext uri="{BB962C8B-B14F-4D97-AF65-F5344CB8AC3E}">
        <p14:creationId xmlns:p14="http://schemas.microsoft.com/office/powerpoint/2010/main" val="1003058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196EB-9FD1-FCA0-B033-B1020FCB74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4863D4-18B4-2FDF-0619-9707C2D821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D9F61C-2CDC-CB4F-5DFD-F6EAD99C2B23}"/>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5" name="Footer Placeholder 4">
            <a:extLst>
              <a:ext uri="{FF2B5EF4-FFF2-40B4-BE49-F238E27FC236}">
                <a16:creationId xmlns:a16="http://schemas.microsoft.com/office/drawing/2014/main" id="{2DF9DB73-917D-9983-1E60-09D2DF0870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7C1F10-B423-D75E-9369-335027CBA40C}"/>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697839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E640E-16EE-E9C1-3360-B5C912002F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9745D7-D3B9-19B2-5FFE-7724CB8F2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746A4-78CC-6D4E-7458-A39AFCF3799F}"/>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5" name="Footer Placeholder 4">
            <a:extLst>
              <a:ext uri="{FF2B5EF4-FFF2-40B4-BE49-F238E27FC236}">
                <a16:creationId xmlns:a16="http://schemas.microsoft.com/office/drawing/2014/main" id="{AAC1052C-797A-AF8D-61DE-5825F67E53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398FA-096A-BB70-CA63-959C0A2624DE}"/>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353868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3B4F-DD07-1B80-C5D0-546FDFE2A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429F26-8BC3-7C6C-059A-4DD451CAFC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6ABD6E-9051-2F34-E1C2-3172B0B587A2}"/>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5" name="Footer Placeholder 4">
            <a:extLst>
              <a:ext uri="{FF2B5EF4-FFF2-40B4-BE49-F238E27FC236}">
                <a16:creationId xmlns:a16="http://schemas.microsoft.com/office/drawing/2014/main" id="{2C9F2A70-6B78-8104-BF9F-72DF5B895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E46C74-4CA9-B43D-2B40-E517CE0B6287}"/>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1949213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B2F39-F325-DC4E-9EC5-15473C330D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5CDD6E-7C0E-210F-85C9-B6840DC10D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F29BE6-7933-86D5-2B9B-F695FD3046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5995E3-67B2-F551-CD27-80E8DB103707}"/>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6" name="Footer Placeholder 5">
            <a:extLst>
              <a:ext uri="{FF2B5EF4-FFF2-40B4-BE49-F238E27FC236}">
                <a16:creationId xmlns:a16="http://schemas.microsoft.com/office/drawing/2014/main" id="{22857A8B-B644-707A-63D8-3396113CA8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141A8-2994-4EF6-B82B-BDFD27B911AB}"/>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3160905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41B34-1F57-9796-135A-662CD9CF41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99E217-E303-0E7E-DE23-7050751145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C01F3E-5082-39CF-3890-47AA16041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FD1E46-9CAA-127C-E942-85AF116A24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E8B1D9-ED80-143C-C8A6-F3B1C3B0C5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75970D-6BB3-C5EB-ED3A-DA066B240151}"/>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8" name="Footer Placeholder 7">
            <a:extLst>
              <a:ext uri="{FF2B5EF4-FFF2-40B4-BE49-F238E27FC236}">
                <a16:creationId xmlns:a16="http://schemas.microsoft.com/office/drawing/2014/main" id="{91A0D8C4-659F-AB9E-AFA5-D759D3A9A6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FD852A-97A3-B7C1-CCA1-A4E21D1FC6F6}"/>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3274070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B923-B88A-385E-E1BC-608522095D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8E6D81-C46A-0C1E-5B40-0780B4456788}"/>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4" name="Footer Placeholder 3">
            <a:extLst>
              <a:ext uri="{FF2B5EF4-FFF2-40B4-BE49-F238E27FC236}">
                <a16:creationId xmlns:a16="http://schemas.microsoft.com/office/drawing/2014/main" id="{4D63271B-A0E8-07A3-0162-B0F5C214CF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235BFE-9AFE-F712-1E91-221661A17546}"/>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335907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93A11E-F94C-5911-1B17-6AEEA8E891E8}"/>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3" name="Footer Placeholder 2">
            <a:extLst>
              <a:ext uri="{FF2B5EF4-FFF2-40B4-BE49-F238E27FC236}">
                <a16:creationId xmlns:a16="http://schemas.microsoft.com/office/drawing/2014/main" id="{2E04FD2B-123E-10B8-B9B0-4366939F71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9B21E0-09E1-74C6-F0BB-61CAAD245FE5}"/>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337034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419D-D8B6-B2E3-DC21-CC821CD2A1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24A394-87D3-ECFC-790E-E65B278159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5F41C1-5FA6-81FF-97FE-D8037EE13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5D3976-808C-3EB2-C7AD-15C377ACB819}"/>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6" name="Footer Placeholder 5">
            <a:extLst>
              <a:ext uri="{FF2B5EF4-FFF2-40B4-BE49-F238E27FC236}">
                <a16:creationId xmlns:a16="http://schemas.microsoft.com/office/drawing/2014/main" id="{66A9A56F-51B2-ACB6-994D-A3CC20E84E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D1F95-3DF0-785D-618C-5DD7EB9EFD7D}"/>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813714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4034B-7F3A-A8CD-217C-A0FD29043A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3D7F46-6FD6-26F5-9584-73EDEA51F7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03D0A8-F616-7051-5E47-22B1DEAA6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D6418-0953-8F28-1ACE-6D7932959C9A}"/>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6" name="Footer Placeholder 5">
            <a:extLst>
              <a:ext uri="{FF2B5EF4-FFF2-40B4-BE49-F238E27FC236}">
                <a16:creationId xmlns:a16="http://schemas.microsoft.com/office/drawing/2014/main" id="{D45B43E3-CED3-E863-34F8-11C2F0D017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85C211-1C03-9329-E5EC-855EA3A5E1B6}"/>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235990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88D57-9D07-0D88-71AA-9264FCC387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4946DF-7461-6331-D4D0-EEAC3F6DA0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737E0-D5CC-CBB6-BA05-6EFCBB63BF80}"/>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5" name="Footer Placeholder 4">
            <a:extLst>
              <a:ext uri="{FF2B5EF4-FFF2-40B4-BE49-F238E27FC236}">
                <a16:creationId xmlns:a16="http://schemas.microsoft.com/office/drawing/2014/main" id="{0C956615-0834-5D99-DAF4-7F97DA59C9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9D6226-8F81-3BB5-7818-1F388F7C491F}"/>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169916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49A64C-BB75-A1C6-DFA8-796FAF2BF0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5B8F3D-9313-5B88-99C1-B4213DB0A8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D1D5E-C9D6-4BD0-7407-E1320E4A5A57}"/>
              </a:ext>
            </a:extLst>
          </p:cNvPr>
          <p:cNvSpPr>
            <a:spLocks noGrp="1"/>
          </p:cNvSpPr>
          <p:nvPr>
            <p:ph type="dt" sz="half" idx="10"/>
          </p:nvPr>
        </p:nvSpPr>
        <p:spPr/>
        <p:txBody>
          <a:bodyPr/>
          <a:lstStyle/>
          <a:p>
            <a:fld id="{A997B54C-8AFC-42DF-9D6F-AA450725E257}" type="datetimeFigureOut">
              <a:rPr lang="en-US" smtClean="0"/>
              <a:t>3/12/2026</a:t>
            </a:fld>
            <a:endParaRPr lang="en-US"/>
          </a:p>
        </p:txBody>
      </p:sp>
      <p:sp>
        <p:nvSpPr>
          <p:cNvPr id="5" name="Footer Placeholder 4">
            <a:extLst>
              <a:ext uri="{FF2B5EF4-FFF2-40B4-BE49-F238E27FC236}">
                <a16:creationId xmlns:a16="http://schemas.microsoft.com/office/drawing/2014/main" id="{6742133D-641D-72E3-6915-F51F5C263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11D61B-A66D-4248-29AE-E6255ED628AB}"/>
              </a:ext>
            </a:extLst>
          </p:cNvPr>
          <p:cNvSpPr>
            <a:spLocks noGrp="1"/>
          </p:cNvSpPr>
          <p:nvPr>
            <p:ph type="sldNum" sz="quarter" idx="12"/>
          </p:nvPr>
        </p:nvSpPr>
        <p:spPr/>
        <p:txBody>
          <a:bodyPr/>
          <a:lstStyle/>
          <a:p>
            <a:fld id="{7FD1CF90-13A1-457F-9419-C3128C5690F7}" type="slidenum">
              <a:rPr lang="en-US" smtClean="0"/>
              <a:t>‹#›</a:t>
            </a:fld>
            <a:endParaRPr lang="en-US"/>
          </a:p>
        </p:txBody>
      </p:sp>
    </p:spTree>
    <p:extLst>
      <p:ext uri="{BB962C8B-B14F-4D97-AF65-F5344CB8AC3E}">
        <p14:creationId xmlns:p14="http://schemas.microsoft.com/office/powerpoint/2010/main" val="286227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CC788C-5F12-7044-0560-032CFB430C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A2934B-0E8D-AD5C-827A-8B3544A0B8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39A66-A011-63BA-D83A-9752062D43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97B54C-8AFC-42DF-9D6F-AA450725E257}" type="datetimeFigureOut">
              <a:rPr lang="en-US" smtClean="0"/>
              <a:t>3/12/2026</a:t>
            </a:fld>
            <a:endParaRPr lang="en-US"/>
          </a:p>
        </p:txBody>
      </p:sp>
      <p:sp>
        <p:nvSpPr>
          <p:cNvPr id="5" name="Footer Placeholder 4">
            <a:extLst>
              <a:ext uri="{FF2B5EF4-FFF2-40B4-BE49-F238E27FC236}">
                <a16:creationId xmlns:a16="http://schemas.microsoft.com/office/drawing/2014/main" id="{F1A5F985-34D0-0A3E-1DA6-0DDAA29B75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4C3F81-D4FC-6EDE-1448-609D8FD4F3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D1CF90-13A1-457F-9419-C3128C5690F7}" type="slidenum">
              <a:rPr lang="en-US" smtClean="0"/>
              <a:t>‹#›</a:t>
            </a:fld>
            <a:endParaRPr lang="en-US"/>
          </a:p>
        </p:txBody>
      </p:sp>
    </p:spTree>
    <p:extLst>
      <p:ext uri="{BB962C8B-B14F-4D97-AF65-F5344CB8AC3E}">
        <p14:creationId xmlns:p14="http://schemas.microsoft.com/office/powerpoint/2010/main" val="1341842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0B10ED-E2A0-4C08-35F9-DD39D999EC51}"/>
              </a:ext>
            </a:extLst>
          </p:cNvPr>
          <p:cNvSpPr txBox="1"/>
          <p:nvPr/>
        </p:nvSpPr>
        <p:spPr>
          <a:xfrm>
            <a:off x="2060171" y="1305099"/>
            <a:ext cx="8071658" cy="2646878"/>
          </a:xfrm>
          <a:prstGeom prst="rect">
            <a:avLst/>
          </a:prstGeom>
          <a:noFill/>
        </p:spPr>
        <p:txBody>
          <a:bodyPr wrap="square" rtlCol="0">
            <a:spAutoFit/>
          </a:bodyPr>
          <a:lstStyle/>
          <a:p>
            <a:endParaRPr lang="en-US"/>
          </a:p>
          <a:p>
            <a:r>
              <a:rPr lang="en-US" sz="3600" b="1" u="sng"/>
              <a:t>Báo cáo Lab 1: Nền tảng KHDL và SQL</a:t>
            </a:r>
          </a:p>
          <a:p>
            <a:r>
              <a:rPr lang="en-US" sz="2800">
                <a:solidFill>
                  <a:srgbClr val="00B0F0"/>
                </a:solidFill>
              </a:rPr>
              <a:t>SV: BÙI VĂN LƯỢNG</a:t>
            </a:r>
          </a:p>
          <a:p>
            <a:r>
              <a:rPr lang="en-US" sz="2800">
                <a:solidFill>
                  <a:srgbClr val="00B0F0"/>
                </a:solidFill>
              </a:rPr>
              <a:t>MSV: PH67648</a:t>
            </a:r>
          </a:p>
          <a:p>
            <a:r>
              <a:rPr lang="en-US" sz="2800">
                <a:solidFill>
                  <a:srgbClr val="00B0F0"/>
                </a:solidFill>
              </a:rPr>
              <a:t>Lớp: AI21302</a:t>
            </a:r>
          </a:p>
          <a:p>
            <a:r>
              <a:rPr lang="en-US" sz="2800">
                <a:solidFill>
                  <a:srgbClr val="00B0F0"/>
                </a:solidFill>
              </a:rPr>
              <a:t>Môn: Khoa học dữ liệu</a:t>
            </a:r>
          </a:p>
        </p:txBody>
      </p:sp>
    </p:spTree>
    <p:extLst>
      <p:ext uri="{BB962C8B-B14F-4D97-AF65-F5344CB8AC3E}">
        <p14:creationId xmlns:p14="http://schemas.microsoft.com/office/powerpoint/2010/main" val="271121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71C72F-B47C-E3AE-31E3-3AA1B9147086}"/>
              </a:ext>
            </a:extLst>
          </p:cNvPr>
          <p:cNvSpPr txBox="1"/>
          <p:nvPr/>
        </p:nvSpPr>
        <p:spPr>
          <a:xfrm>
            <a:off x="216131" y="141316"/>
            <a:ext cx="7581207" cy="461665"/>
          </a:xfrm>
          <a:prstGeom prst="rect">
            <a:avLst/>
          </a:prstGeom>
          <a:noFill/>
        </p:spPr>
        <p:txBody>
          <a:bodyPr wrap="square" rtlCol="0">
            <a:spAutoFit/>
          </a:bodyPr>
          <a:lstStyle/>
          <a:p>
            <a:r>
              <a:rPr lang="en-US" sz="2400" b="1" u="sng"/>
              <a:t>Phần 1 bài 1: </a:t>
            </a:r>
          </a:p>
        </p:txBody>
      </p:sp>
      <p:sp>
        <p:nvSpPr>
          <p:cNvPr id="3" name="TextBox 2">
            <a:extLst>
              <a:ext uri="{FF2B5EF4-FFF2-40B4-BE49-F238E27FC236}">
                <a16:creationId xmlns:a16="http://schemas.microsoft.com/office/drawing/2014/main" id="{BA553F84-B7A8-0B2B-967F-5F4DB05F0A11}"/>
              </a:ext>
            </a:extLst>
          </p:cNvPr>
          <p:cNvSpPr txBox="1"/>
          <p:nvPr/>
        </p:nvSpPr>
        <p:spPr>
          <a:xfrm>
            <a:off x="635923" y="644328"/>
            <a:ext cx="10638535" cy="646331"/>
          </a:xfrm>
          <a:prstGeom prst="rect">
            <a:avLst/>
          </a:prstGeom>
          <a:noFill/>
        </p:spPr>
        <p:txBody>
          <a:bodyPr wrap="square" rtlCol="0">
            <a:spAutoFit/>
          </a:bodyPr>
          <a:lstStyle/>
          <a:p>
            <a:r>
              <a:rPr lang="en-US" b="1"/>
              <a:t>Cty Shoppee không chỉ đơn thuần là một trang web hay phần mềm kinh doanh mà nó còn là một cỗ máy dữ liệu khổng lồ , ví dụ như : thông tin khách hàng , lịch sử mua hàng , toạ độ mua hàng , đánh giá sản phẩm….</a:t>
            </a:r>
          </a:p>
        </p:txBody>
      </p:sp>
      <p:sp>
        <p:nvSpPr>
          <p:cNvPr id="4" name="TextBox 3">
            <a:extLst>
              <a:ext uri="{FF2B5EF4-FFF2-40B4-BE49-F238E27FC236}">
                <a16:creationId xmlns:a16="http://schemas.microsoft.com/office/drawing/2014/main" id="{AA87D42C-27DA-012D-A83E-9D7BA578E6E8}"/>
              </a:ext>
            </a:extLst>
          </p:cNvPr>
          <p:cNvSpPr txBox="1"/>
          <p:nvPr/>
        </p:nvSpPr>
        <p:spPr>
          <a:xfrm>
            <a:off x="635923" y="2043122"/>
            <a:ext cx="10920154" cy="1477328"/>
          </a:xfrm>
          <a:prstGeom prst="rect">
            <a:avLst/>
          </a:prstGeom>
          <a:noFill/>
        </p:spPr>
        <p:txBody>
          <a:bodyPr wrap="square" rtlCol="0">
            <a:spAutoFit/>
          </a:bodyPr>
          <a:lstStyle/>
          <a:p>
            <a:r>
              <a:rPr lang="en-US" u="sng"/>
              <a:t>Bài toán 1: Tối ưu hoá hệ thống gợi ý sản phẩm </a:t>
            </a:r>
          </a:p>
          <a:p>
            <a:r>
              <a:rPr lang="en-US"/>
              <a:t>+ Mục tiêu : Hiển thị đúng thứ khách hàng quan tâm khi mở app</a:t>
            </a:r>
          </a:p>
          <a:p>
            <a:r>
              <a:rPr lang="en-US"/>
              <a:t>+ Cách KHDL giải quyết : Thuật toán sẽ phân tích lịch sử xem hàng , các món đã thêm vào giỏ hàng nhưng chưa mua và hành vi của những người có sở thích tương đồng.</a:t>
            </a:r>
          </a:p>
          <a:p>
            <a:r>
              <a:rPr lang="en-US"/>
              <a:t>+ Lợi ích : Tăng tỷ lệ mua hàng và giữ chân khách hàng ở lại với ứng dụng lâu hơn.</a:t>
            </a:r>
          </a:p>
        </p:txBody>
      </p:sp>
      <p:sp>
        <p:nvSpPr>
          <p:cNvPr id="5" name="TextBox 4">
            <a:extLst>
              <a:ext uri="{FF2B5EF4-FFF2-40B4-BE49-F238E27FC236}">
                <a16:creationId xmlns:a16="http://schemas.microsoft.com/office/drawing/2014/main" id="{AC52BB7A-E99F-3280-427D-F7F80FD58D08}"/>
              </a:ext>
            </a:extLst>
          </p:cNvPr>
          <p:cNvSpPr txBox="1"/>
          <p:nvPr/>
        </p:nvSpPr>
        <p:spPr>
          <a:xfrm>
            <a:off x="635923" y="3850139"/>
            <a:ext cx="8678487" cy="2308324"/>
          </a:xfrm>
          <a:prstGeom prst="rect">
            <a:avLst/>
          </a:prstGeom>
          <a:noFill/>
        </p:spPr>
        <p:txBody>
          <a:bodyPr wrap="square" rtlCol="0">
            <a:spAutoFit/>
          </a:bodyPr>
          <a:lstStyle/>
          <a:p>
            <a:r>
              <a:rPr lang="en-US" u="sng"/>
              <a:t>Bài toán 2: Phát hiện gian lận trong các chương trình khuyến mại</a:t>
            </a:r>
          </a:p>
          <a:p>
            <a:r>
              <a:rPr lang="en-US"/>
              <a:t>+ Mục tiêu : Ngăn chặn việc tạo hàng loạt các tài khoản ảo để săn mã giảm giá và miễn phí vận chuyển.</a:t>
            </a:r>
          </a:p>
          <a:p>
            <a:r>
              <a:rPr lang="en-US"/>
              <a:t>+ Cách KHDL giải quyết: Xây dựng mô hình phân tích các dấu hiệu bất thường như: nhiều tài khoản dung chung một địa chỉ IP cùng một thiết bị hoặc có nhiều đơn hàng được giao tại một địa chỉ trong khoảng thời gian ngắn.</a:t>
            </a:r>
          </a:p>
          <a:p>
            <a:r>
              <a:rPr lang="en-US"/>
              <a:t>+ Lợi ích: Đảm bảo ngân sách khuyến mại đến đúng với người dùng thật , tránh thất thoát ngân sách cho Shoppee.</a:t>
            </a:r>
          </a:p>
        </p:txBody>
      </p:sp>
    </p:spTree>
    <p:extLst>
      <p:ext uri="{BB962C8B-B14F-4D97-AF65-F5344CB8AC3E}">
        <p14:creationId xmlns:p14="http://schemas.microsoft.com/office/powerpoint/2010/main" val="505764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A0E9FC-E1E4-4655-FD5B-46E290EFF77B}"/>
              </a:ext>
            </a:extLst>
          </p:cNvPr>
          <p:cNvSpPr txBox="1"/>
          <p:nvPr/>
        </p:nvSpPr>
        <p:spPr>
          <a:xfrm>
            <a:off x="150829" y="169682"/>
            <a:ext cx="8031638" cy="523220"/>
          </a:xfrm>
          <a:prstGeom prst="rect">
            <a:avLst/>
          </a:prstGeom>
          <a:noFill/>
        </p:spPr>
        <p:txBody>
          <a:bodyPr wrap="square" rtlCol="0">
            <a:spAutoFit/>
          </a:bodyPr>
          <a:lstStyle/>
          <a:p>
            <a:r>
              <a:rPr lang="en-US" sz="2800" b="1"/>
              <a:t>VAI TRÒ CỦA SQL TRONG QUY TRÌNH SỬ LÝ DỮ LIỆU</a:t>
            </a:r>
          </a:p>
        </p:txBody>
      </p:sp>
      <p:sp>
        <p:nvSpPr>
          <p:cNvPr id="3" name="TextBox 2">
            <a:extLst>
              <a:ext uri="{FF2B5EF4-FFF2-40B4-BE49-F238E27FC236}">
                <a16:creationId xmlns:a16="http://schemas.microsoft.com/office/drawing/2014/main" id="{9B646C0A-A78A-4E7D-BE99-D25E3A0938A6}"/>
              </a:ext>
            </a:extLst>
          </p:cNvPr>
          <p:cNvSpPr txBox="1"/>
          <p:nvPr/>
        </p:nvSpPr>
        <p:spPr>
          <a:xfrm>
            <a:off x="697582" y="1851772"/>
            <a:ext cx="9407951" cy="646331"/>
          </a:xfrm>
          <a:prstGeom prst="rect">
            <a:avLst/>
          </a:prstGeom>
          <a:noFill/>
        </p:spPr>
        <p:txBody>
          <a:bodyPr wrap="square" rtlCol="0">
            <a:spAutoFit/>
          </a:bodyPr>
          <a:lstStyle/>
          <a:p>
            <a:r>
              <a:rPr lang="en-US" u="sng"/>
              <a:t>Cách giải quyết của bài toán 1 : Tối ưu hệ thống gợi ý sản phẩm </a:t>
            </a:r>
          </a:p>
          <a:p>
            <a:endParaRPr lang="en-US"/>
          </a:p>
        </p:txBody>
      </p:sp>
      <p:sp>
        <p:nvSpPr>
          <p:cNvPr id="4" name="TextBox 3">
            <a:extLst>
              <a:ext uri="{FF2B5EF4-FFF2-40B4-BE49-F238E27FC236}">
                <a16:creationId xmlns:a16="http://schemas.microsoft.com/office/drawing/2014/main" id="{A3499E7E-8347-220E-D3EE-B150A1164137}"/>
              </a:ext>
            </a:extLst>
          </p:cNvPr>
          <p:cNvSpPr txBox="1"/>
          <p:nvPr/>
        </p:nvSpPr>
        <p:spPr>
          <a:xfrm>
            <a:off x="405351" y="692902"/>
            <a:ext cx="8031637" cy="923330"/>
          </a:xfrm>
          <a:prstGeom prst="rect">
            <a:avLst/>
          </a:prstGeom>
          <a:noFill/>
        </p:spPr>
        <p:txBody>
          <a:bodyPr wrap="square" rtlCol="0">
            <a:spAutoFit/>
          </a:bodyPr>
          <a:lstStyle/>
          <a:p>
            <a:pPr marL="285750" indent="-285750">
              <a:buFontTx/>
              <a:buChar char="-"/>
            </a:pPr>
            <a:r>
              <a:rPr lang="en-US"/>
              <a:t>Trong KHDL , SQL có vai trò thu thập và trích xuất dữ liệu ( data extraction )</a:t>
            </a:r>
          </a:p>
          <a:p>
            <a:r>
              <a:rPr lang="en-US"/>
              <a:t>Không thể dùng toàn bộ hệ thống dữ liệu hàng tỷ dòng để chạy, vì vậy SQL sẽ sàng lọc ra những dũ liệu tinh khiết.</a:t>
            </a:r>
          </a:p>
        </p:txBody>
      </p:sp>
      <p:sp>
        <p:nvSpPr>
          <p:cNvPr id="5" name="TextBox 4">
            <a:extLst>
              <a:ext uri="{FF2B5EF4-FFF2-40B4-BE49-F238E27FC236}">
                <a16:creationId xmlns:a16="http://schemas.microsoft.com/office/drawing/2014/main" id="{119D1289-F978-44C6-1F79-B3CA7995072F}"/>
              </a:ext>
            </a:extLst>
          </p:cNvPr>
          <p:cNvSpPr txBox="1"/>
          <p:nvPr/>
        </p:nvSpPr>
        <p:spPr>
          <a:xfrm>
            <a:off x="697583" y="2498103"/>
            <a:ext cx="9407951" cy="3416320"/>
          </a:xfrm>
          <a:prstGeom prst="rect">
            <a:avLst/>
          </a:prstGeom>
          <a:noFill/>
        </p:spPr>
        <p:txBody>
          <a:bodyPr wrap="square" rtlCol="0">
            <a:spAutoFit/>
          </a:bodyPr>
          <a:lstStyle/>
          <a:p>
            <a:r>
              <a:rPr lang="en-US"/>
              <a:t>SQL dung để lấy dữ liệu gì , từ đâu</a:t>
            </a:r>
          </a:p>
          <a:p>
            <a:r>
              <a:rPr lang="en-US"/>
              <a:t>Giả sử cần lấy dữ liệu gợi ý cho người dùng mua đồ điện tử , lúc này sẽ dung SQL để truy vấn các bảng từ cơ sở dữ liệu ( data base ) của Shoppe</a:t>
            </a:r>
          </a:p>
          <a:p>
            <a:r>
              <a:rPr lang="en-US"/>
              <a:t>+ Bảng User ( người dung ): Lấy thông tin về độ tuổi , giới tính , tỉnh thành để lọc sản phẩm phù hợp</a:t>
            </a:r>
          </a:p>
          <a:p>
            <a:r>
              <a:rPr lang="en-US"/>
              <a:t>+ Bảng oder ( đơn hàng ) : Lấy danh sách đơn hàng mà người dung đã mua thành công trong 6 tháng qua </a:t>
            </a:r>
          </a:p>
          <a:p>
            <a:r>
              <a:rPr lang="en-US"/>
              <a:t>+ Bảng product_view ( lượt xem sản phẩm ): Lấy thông tin các sản phẩm mà người dung đã xem , thêm vào giỏ hàng nhưng chưa mua</a:t>
            </a:r>
          </a:p>
          <a:p>
            <a:r>
              <a:rPr lang="en-US"/>
              <a:t>+ Bảng product ( sản phẩm ): Lấy thông tin chi tiết của ngành hàng , giá của những sản phẩm đang có lượt đánh giá cao để ưu tiên gợi ý</a:t>
            </a:r>
          </a:p>
          <a:p>
            <a:endParaRPr lang="en-US"/>
          </a:p>
        </p:txBody>
      </p:sp>
    </p:spTree>
    <p:extLst>
      <p:ext uri="{BB962C8B-B14F-4D97-AF65-F5344CB8AC3E}">
        <p14:creationId xmlns:p14="http://schemas.microsoft.com/office/powerpoint/2010/main" val="3222807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1B1859-F137-617E-FAE8-E6BF3EF5DBD7}"/>
              </a:ext>
            </a:extLst>
          </p:cNvPr>
          <p:cNvSpPr txBox="1"/>
          <p:nvPr/>
        </p:nvSpPr>
        <p:spPr>
          <a:xfrm>
            <a:off x="94268" y="84842"/>
            <a:ext cx="3186260" cy="523220"/>
          </a:xfrm>
          <a:prstGeom prst="rect">
            <a:avLst/>
          </a:prstGeom>
          <a:noFill/>
        </p:spPr>
        <p:txBody>
          <a:bodyPr wrap="square" rtlCol="0">
            <a:spAutoFit/>
          </a:bodyPr>
          <a:lstStyle/>
          <a:p>
            <a:r>
              <a:rPr lang="en-US" sz="2800" b="1" u="sng"/>
              <a:t>Bài 2</a:t>
            </a:r>
          </a:p>
        </p:txBody>
      </p:sp>
      <p:sp>
        <p:nvSpPr>
          <p:cNvPr id="3" name="TextBox 2">
            <a:extLst>
              <a:ext uri="{FF2B5EF4-FFF2-40B4-BE49-F238E27FC236}">
                <a16:creationId xmlns:a16="http://schemas.microsoft.com/office/drawing/2014/main" id="{F77108B7-2408-99FC-D0BA-A616C2843CB7}"/>
              </a:ext>
            </a:extLst>
          </p:cNvPr>
          <p:cNvSpPr txBox="1"/>
          <p:nvPr/>
        </p:nvSpPr>
        <p:spPr>
          <a:xfrm>
            <a:off x="1536568" y="374733"/>
            <a:ext cx="5929460" cy="1785104"/>
          </a:xfrm>
          <a:prstGeom prst="rect">
            <a:avLst/>
          </a:prstGeom>
          <a:noFill/>
        </p:spPr>
        <p:txBody>
          <a:bodyPr wrap="square" rtlCol="0">
            <a:spAutoFit/>
          </a:bodyPr>
          <a:lstStyle/>
          <a:p>
            <a:r>
              <a:rPr lang="en-US" sz="2000" b="1"/>
              <a:t>1</a:t>
            </a:r>
            <a:r>
              <a:rPr lang="en-US"/>
              <a:t>: + Dữ liệu có cấu trúc ( structured ) : A và  D </a:t>
            </a:r>
            <a:r>
              <a:rPr lang="en-US" b="1" u="sng">
                <a:solidFill>
                  <a:srgbClr val="00B0F0"/>
                </a:solidFill>
              </a:rPr>
              <a:t>vì</a:t>
            </a:r>
            <a:r>
              <a:rPr lang="en-US"/>
              <a:t> hai loại dữ liệu này có các thành phần , thuộc tính cố định , đo lường được , dễ dàng ở phân đoạn xử lý dữ liệu sau này</a:t>
            </a:r>
          </a:p>
          <a:p>
            <a:r>
              <a:rPr lang="en-US"/>
              <a:t>    + Dữ liệu phi cấu trúc ( unstructured ) : B và C vì hau loại dữ liệu này có các thành phần , thuộc tính không cố định , nhiều dữ liệu nhiễu , khó đo lường được</a:t>
            </a:r>
          </a:p>
        </p:txBody>
      </p:sp>
      <p:sp>
        <p:nvSpPr>
          <p:cNvPr id="4" name="TextBox 3">
            <a:extLst>
              <a:ext uri="{FF2B5EF4-FFF2-40B4-BE49-F238E27FC236}">
                <a16:creationId xmlns:a16="http://schemas.microsoft.com/office/drawing/2014/main" id="{1A425742-E0B3-269B-BD79-76B8ADFB689B}"/>
              </a:ext>
            </a:extLst>
          </p:cNvPr>
          <p:cNvSpPr txBox="1"/>
          <p:nvPr/>
        </p:nvSpPr>
        <p:spPr>
          <a:xfrm>
            <a:off x="1536568" y="2567788"/>
            <a:ext cx="7286920" cy="3231654"/>
          </a:xfrm>
          <a:prstGeom prst="rect">
            <a:avLst/>
          </a:prstGeom>
          <a:noFill/>
        </p:spPr>
        <p:txBody>
          <a:bodyPr wrap="square" rtlCol="0">
            <a:spAutoFit/>
          </a:bodyPr>
          <a:lstStyle/>
          <a:p>
            <a:r>
              <a:rPr lang="en-US" sz="2400"/>
              <a:t>2</a:t>
            </a:r>
            <a:r>
              <a:rPr lang="en-US"/>
              <a:t>: A và D phù hợp với RDBMS ( PostgreSQL ) </a:t>
            </a:r>
            <a:r>
              <a:rPr lang="en-US" u="sng">
                <a:solidFill>
                  <a:srgbClr val="00B0F0"/>
                </a:solidFill>
              </a:rPr>
              <a:t>vì</a:t>
            </a:r>
          </a:p>
          <a:p>
            <a:r>
              <a:rPr lang="en-US"/>
              <a:t>+ Tính cấu trúc đồng nhất ( Schema ): A và D đều có các trường dữ liệu cố định như ngày sinh , tên , tuổi , giá tiền… PostgreSQL yêu cầu dữ liệu phải được định nghĩa khuôn mẫu rõ rang trước khi lưu trữ nên phù hợp</a:t>
            </a:r>
          </a:p>
          <a:p>
            <a:r>
              <a:rPr lang="en-US"/>
              <a:t>+ Mối quan hệ giữu các dữ liệu ( Relationships ) . Điểm mạnh nhất của RDMBS , là liên kết các dữ liệu của các bảng khác lại với nhau từ đó truy ra thành phần tối ưu hơn</a:t>
            </a:r>
          </a:p>
          <a:p>
            <a:r>
              <a:rPr lang="en-US"/>
              <a:t>+ Tính toàn vẹn dữ liệu ( Data Integrity ): Các dữ liệu quan trọng như tiền và lương PostSQL cung cấp các ràng buộc ( constraints ) để đảm bảo không có lỗi sảy ra vd như số tiền trên hoá đơn không có giá trị âm , ID nhân viên không trùng nhau</a:t>
            </a:r>
          </a:p>
        </p:txBody>
      </p:sp>
    </p:spTree>
    <p:extLst>
      <p:ext uri="{BB962C8B-B14F-4D97-AF65-F5344CB8AC3E}">
        <p14:creationId xmlns:p14="http://schemas.microsoft.com/office/powerpoint/2010/main" val="1323883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2DE5E-C8F1-61E2-5B6E-ADD961F2CF47}"/>
              </a:ext>
            </a:extLst>
          </p:cNvPr>
          <p:cNvSpPr txBox="1"/>
          <p:nvPr/>
        </p:nvSpPr>
        <p:spPr>
          <a:xfrm>
            <a:off x="0" y="65988"/>
            <a:ext cx="5165889" cy="461665"/>
          </a:xfrm>
          <a:prstGeom prst="rect">
            <a:avLst/>
          </a:prstGeom>
          <a:noFill/>
        </p:spPr>
        <p:txBody>
          <a:bodyPr wrap="square" rtlCol="0">
            <a:spAutoFit/>
          </a:bodyPr>
          <a:lstStyle/>
          <a:p>
            <a:r>
              <a:rPr lang="en-US" sz="2400" b="1" u="sng"/>
              <a:t>PHẦN 2 – BÀI 3:</a:t>
            </a:r>
          </a:p>
        </p:txBody>
      </p:sp>
      <p:sp>
        <p:nvSpPr>
          <p:cNvPr id="3" name="TextBox 2">
            <a:extLst>
              <a:ext uri="{FF2B5EF4-FFF2-40B4-BE49-F238E27FC236}">
                <a16:creationId xmlns:a16="http://schemas.microsoft.com/office/drawing/2014/main" id="{EDED19AB-A67E-C52E-7C65-8A25F1249303}"/>
              </a:ext>
            </a:extLst>
          </p:cNvPr>
          <p:cNvSpPr txBox="1"/>
          <p:nvPr/>
        </p:nvSpPr>
        <p:spPr>
          <a:xfrm>
            <a:off x="1687398" y="659877"/>
            <a:ext cx="7654566" cy="2123658"/>
          </a:xfrm>
          <a:prstGeom prst="rect">
            <a:avLst/>
          </a:prstGeom>
          <a:noFill/>
        </p:spPr>
        <p:txBody>
          <a:bodyPr wrap="square" rtlCol="0">
            <a:spAutoFit/>
          </a:bodyPr>
          <a:lstStyle/>
          <a:p>
            <a:r>
              <a:rPr lang="en-US" sz="2400" b="1"/>
              <a:t>1</a:t>
            </a:r>
            <a:r>
              <a:rPr lang="en-US"/>
              <a:t>: Dự án 1 sử dụng PostgreSQL </a:t>
            </a:r>
            <a:r>
              <a:rPr lang="en-US" b="1" u="sng">
                <a:solidFill>
                  <a:srgbClr val="00B0F0"/>
                </a:solidFill>
              </a:rPr>
              <a:t>vì</a:t>
            </a:r>
            <a:r>
              <a:rPr lang="en-US"/>
              <a:t> : PostgreSQL có các đặc điểm đã nêu </a:t>
            </a:r>
          </a:p>
          <a:p>
            <a:r>
              <a:rPr lang="en-US"/>
              <a:t>+ Có tính nhất quán cao : dữ liệu của siêu thị cần có sự chính xác tuyệt đối , không để xảy ra việc hàng xuất kho nhưng chưa trừ</a:t>
            </a:r>
          </a:p>
          <a:p>
            <a:r>
              <a:rPr lang="en-US"/>
              <a:t>+ Cấu trúc quan hệ : Dữ liệu nhà cung cấp có thể liên kết với dữ liệu siêu thị , phù hợp với hệ quản trị cơ sở dữ liệu quan hệ ( RDBMS)</a:t>
            </a:r>
          </a:p>
          <a:p>
            <a:r>
              <a:rPr lang="en-US"/>
              <a:t>+ Quy mô vừa phải: PostgreSQL chạy cực kỳ nhanh và tiết kiệm tài nguyên phù hợp với quy mô vừa phải</a:t>
            </a:r>
          </a:p>
        </p:txBody>
      </p:sp>
      <p:sp>
        <p:nvSpPr>
          <p:cNvPr id="5" name="TextBox 4">
            <a:extLst>
              <a:ext uri="{FF2B5EF4-FFF2-40B4-BE49-F238E27FC236}">
                <a16:creationId xmlns:a16="http://schemas.microsoft.com/office/drawing/2014/main" id="{33175B86-B845-6376-6576-14052D0030E5}"/>
              </a:ext>
            </a:extLst>
          </p:cNvPr>
          <p:cNvSpPr txBox="1"/>
          <p:nvPr/>
        </p:nvSpPr>
        <p:spPr>
          <a:xfrm>
            <a:off x="1687398" y="3061355"/>
            <a:ext cx="8936610" cy="2400657"/>
          </a:xfrm>
          <a:prstGeom prst="rect">
            <a:avLst/>
          </a:prstGeom>
          <a:noFill/>
        </p:spPr>
        <p:txBody>
          <a:bodyPr wrap="square" rtlCol="0">
            <a:spAutoFit/>
          </a:bodyPr>
          <a:lstStyle/>
          <a:p>
            <a:r>
              <a:rPr lang="en-US" sz="2400" b="1"/>
              <a:t>2</a:t>
            </a:r>
            <a:r>
              <a:rPr lang="en-US"/>
              <a:t>: Dự án 2 sử dụng BigQuery </a:t>
            </a:r>
            <a:r>
              <a:rPr lang="en-US" b="1" u="sng">
                <a:solidFill>
                  <a:srgbClr val="00B0F0"/>
                </a:solidFill>
              </a:rPr>
              <a:t>vì</a:t>
            </a:r>
            <a:r>
              <a:rPr lang="en-US"/>
              <a:t>:  </a:t>
            </a:r>
          </a:p>
          <a:p>
            <a:r>
              <a:rPr lang="en-US"/>
              <a:t>+ Khả năng mở rộng: Hàng triệu lượt truy cập mỗi ngày tạo ra lượng dữ liệu cực lớn , Bigquery là một hệ thống quản lý lưu trữ dữ liệu lịch sử trên nền tảng đám mây , có thể lưu trữu và xử lý hàng triệu petabyte mà không cần quản lý máy chủ</a:t>
            </a:r>
          </a:p>
          <a:p>
            <a:r>
              <a:rPr lang="en-US"/>
              <a:t>+ Tốc độ xử lý: Bigquery sử dụng cấu trúc lưu trữ dữ liệu dạng cột, giúp việc tính toán xu hướng diễn ra trong vài giây, đáp ứng được yêu cầu thời gian thực</a:t>
            </a:r>
          </a:p>
          <a:p>
            <a:r>
              <a:rPr lang="en-US"/>
              <a:t>+ Phân tích thông minh: Bigquery tích hợp sẵn các công cụ phân tích dữ liệu lớn  và học máy, phù hợp để phân tích xu hướng đọc báo của người dung.</a:t>
            </a:r>
          </a:p>
        </p:txBody>
      </p:sp>
    </p:spTree>
    <p:extLst>
      <p:ext uri="{BB962C8B-B14F-4D97-AF65-F5344CB8AC3E}">
        <p14:creationId xmlns:p14="http://schemas.microsoft.com/office/powerpoint/2010/main" val="222345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D5510F-E612-8823-3B34-3A7F05159719}"/>
              </a:ext>
            </a:extLst>
          </p:cNvPr>
          <p:cNvSpPr txBox="1"/>
          <p:nvPr/>
        </p:nvSpPr>
        <p:spPr>
          <a:xfrm>
            <a:off x="103695" y="160256"/>
            <a:ext cx="4232635" cy="523220"/>
          </a:xfrm>
          <a:prstGeom prst="rect">
            <a:avLst/>
          </a:prstGeom>
          <a:noFill/>
        </p:spPr>
        <p:txBody>
          <a:bodyPr wrap="square" rtlCol="0">
            <a:spAutoFit/>
          </a:bodyPr>
          <a:lstStyle/>
          <a:p>
            <a:r>
              <a:rPr lang="en-US" sz="2800" b="1" u="sng"/>
              <a:t>BÀI 4: </a:t>
            </a:r>
          </a:p>
        </p:txBody>
      </p:sp>
      <p:pic>
        <p:nvPicPr>
          <p:cNvPr id="3" name="Picture 2">
            <a:extLst>
              <a:ext uri="{FF2B5EF4-FFF2-40B4-BE49-F238E27FC236}">
                <a16:creationId xmlns:a16="http://schemas.microsoft.com/office/drawing/2014/main" id="{CD91C5BC-4F54-387B-D836-0A1B8561581A}"/>
              </a:ext>
            </a:extLst>
          </p:cNvPr>
          <p:cNvPicPr>
            <a:picLocks noChangeAspect="1"/>
          </p:cNvPicPr>
          <p:nvPr/>
        </p:nvPicPr>
        <p:blipFill>
          <a:blip r:embed="rId2"/>
          <a:stretch>
            <a:fillRect/>
          </a:stretch>
        </p:blipFill>
        <p:spPr>
          <a:xfrm>
            <a:off x="6096000" y="160256"/>
            <a:ext cx="5580668" cy="3139126"/>
          </a:xfrm>
          <a:prstGeom prst="rect">
            <a:avLst/>
          </a:prstGeom>
        </p:spPr>
      </p:pic>
      <p:sp>
        <p:nvSpPr>
          <p:cNvPr id="4" name="TextBox 3">
            <a:extLst>
              <a:ext uri="{FF2B5EF4-FFF2-40B4-BE49-F238E27FC236}">
                <a16:creationId xmlns:a16="http://schemas.microsoft.com/office/drawing/2014/main" id="{A2D194A6-C30F-EB6A-576A-0C6AFC09B502}"/>
              </a:ext>
            </a:extLst>
          </p:cNvPr>
          <p:cNvSpPr txBox="1"/>
          <p:nvPr/>
        </p:nvSpPr>
        <p:spPr>
          <a:xfrm>
            <a:off x="1404594" y="172055"/>
            <a:ext cx="1348033" cy="523220"/>
          </a:xfrm>
          <a:prstGeom prst="rect">
            <a:avLst/>
          </a:prstGeom>
          <a:noFill/>
        </p:spPr>
        <p:txBody>
          <a:bodyPr wrap="square" rtlCol="0">
            <a:spAutoFit/>
          </a:bodyPr>
          <a:lstStyle/>
          <a:p>
            <a:r>
              <a:rPr lang="en-US" sz="2800" b="1"/>
              <a:t>1</a:t>
            </a:r>
            <a:r>
              <a:rPr lang="en-US"/>
              <a:t>:</a:t>
            </a:r>
          </a:p>
        </p:txBody>
      </p:sp>
      <p:sp>
        <p:nvSpPr>
          <p:cNvPr id="5" name="TextBox 4">
            <a:extLst>
              <a:ext uri="{FF2B5EF4-FFF2-40B4-BE49-F238E27FC236}">
                <a16:creationId xmlns:a16="http://schemas.microsoft.com/office/drawing/2014/main" id="{FAC96C21-6FF5-6EEF-5436-EAF8B5FFC931}"/>
              </a:ext>
            </a:extLst>
          </p:cNvPr>
          <p:cNvSpPr txBox="1"/>
          <p:nvPr/>
        </p:nvSpPr>
        <p:spPr>
          <a:xfrm>
            <a:off x="1404594" y="3469680"/>
            <a:ext cx="8795208" cy="2954655"/>
          </a:xfrm>
          <a:prstGeom prst="rect">
            <a:avLst/>
          </a:prstGeom>
          <a:noFill/>
        </p:spPr>
        <p:txBody>
          <a:bodyPr wrap="square" rtlCol="0">
            <a:spAutoFit/>
          </a:bodyPr>
          <a:lstStyle/>
          <a:p>
            <a:r>
              <a:rPr lang="en-US" sz="2400" b="1"/>
              <a:t>2</a:t>
            </a:r>
            <a:r>
              <a:rPr lang="en-US"/>
              <a:t>: + Trực quan hoá cấu trúc và dữ liệu : Thay vì phải nhớ các câu lệnh để liệt kê bảng , cột hay các rang buộc, pgAdmin hiển thị toàn bộ hệ thống cơ sở dữ liệu dưới dạng cây thư mục, việc xem dữ liệu lúc này giống với đọc file excel giúp nhanh nắm bắt được nội dung mà không cần gõ nhiều câu lệnh</a:t>
            </a:r>
          </a:p>
          <a:p>
            <a:r>
              <a:rPr lang="en-US"/>
              <a:t>+ Hỗ trợ viết code thông minh ( Querytool và Autocomplate ) : pgAdmin cung cấp trình soạn thảo truy vấn mạnh mẽ với tính năng gợi ý code </a:t>
            </a:r>
          </a:p>
          <a:p>
            <a:r>
              <a:rPr lang="en-US"/>
              <a:t>+ Quản trị và giám sát dẽ dàng (Dashbroard và Tools ) : pgAdmin tích hợp sẵn các biểu đồ giám sát ( Dashboard ) để theo dõi sức khoẻ của Database ( như số lượng kết nối, dung lượng đang dung…) , hỗ trợ các thao tác phức tập như sao lưu , phục hồi hay phân quyền người dung bằng cách vài cú nhấp choột vào menu.</a:t>
            </a:r>
          </a:p>
        </p:txBody>
      </p:sp>
    </p:spTree>
    <p:extLst>
      <p:ext uri="{BB962C8B-B14F-4D97-AF65-F5344CB8AC3E}">
        <p14:creationId xmlns:p14="http://schemas.microsoft.com/office/powerpoint/2010/main" val="4291796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6E4E9C-56B6-D041-98AD-D1B4E9809F10}"/>
              </a:ext>
            </a:extLst>
          </p:cNvPr>
          <p:cNvSpPr txBox="1"/>
          <p:nvPr/>
        </p:nvSpPr>
        <p:spPr>
          <a:xfrm>
            <a:off x="3489488" y="367332"/>
            <a:ext cx="5213023" cy="584775"/>
          </a:xfrm>
          <a:prstGeom prst="rect">
            <a:avLst/>
          </a:prstGeom>
          <a:noFill/>
        </p:spPr>
        <p:txBody>
          <a:bodyPr wrap="square" rtlCol="0">
            <a:spAutoFit/>
          </a:bodyPr>
          <a:lstStyle/>
          <a:p>
            <a:r>
              <a:rPr lang="en-US" sz="3200" b="1"/>
              <a:t>TỔNG KẾT QUA BÀI HỌC </a:t>
            </a:r>
          </a:p>
        </p:txBody>
      </p:sp>
      <p:sp>
        <p:nvSpPr>
          <p:cNvPr id="3" name="TextBox 2">
            <a:extLst>
              <a:ext uri="{FF2B5EF4-FFF2-40B4-BE49-F238E27FC236}">
                <a16:creationId xmlns:a16="http://schemas.microsoft.com/office/drawing/2014/main" id="{28DA7C9C-EC84-ED22-6B33-67DC74C3A503}"/>
              </a:ext>
            </a:extLst>
          </p:cNvPr>
          <p:cNvSpPr txBox="1"/>
          <p:nvPr/>
        </p:nvSpPr>
        <p:spPr>
          <a:xfrm>
            <a:off x="1589986" y="1998483"/>
            <a:ext cx="9938995" cy="1323439"/>
          </a:xfrm>
          <a:prstGeom prst="rect">
            <a:avLst/>
          </a:prstGeom>
          <a:noFill/>
        </p:spPr>
        <p:txBody>
          <a:bodyPr wrap="square" rtlCol="0">
            <a:spAutoFit/>
          </a:bodyPr>
          <a:lstStyle/>
          <a:p>
            <a:r>
              <a:rPr lang="en-US" sz="2000"/>
              <a:t>1: Vai trò quan trọng của KHDL cho một công ty để tối ưu ngân sách cho công ty</a:t>
            </a:r>
          </a:p>
          <a:p>
            <a:r>
              <a:rPr lang="en-US" sz="2000"/>
              <a:t>2: Nhận biết được loại dữ liệu có cấu trúc ( structured ) và dữ liệu phi cấu trúc ( unstructured )</a:t>
            </a:r>
          </a:p>
          <a:p>
            <a:r>
              <a:rPr lang="en-US" sz="2000"/>
              <a:t>3: Chọn loại cơ sở dữ liệu phù hợp cho các dự án có yêu cầu đặc tính khác nhau</a:t>
            </a:r>
          </a:p>
          <a:p>
            <a:r>
              <a:rPr lang="en-US" sz="2000"/>
              <a:t>4: Làm quen với pgAdmin và nhận biết các điểm mạnh của PostgreSQL </a:t>
            </a:r>
          </a:p>
        </p:txBody>
      </p:sp>
    </p:spTree>
    <p:extLst>
      <p:ext uri="{BB962C8B-B14F-4D97-AF65-F5344CB8AC3E}">
        <p14:creationId xmlns:p14="http://schemas.microsoft.com/office/powerpoint/2010/main" val="1432901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1279</Words>
  <Application>Microsoft Office PowerPoint</Application>
  <PresentationFormat>Widescreen</PresentationFormat>
  <Paragraphs>54</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Lượng Bùi Văn</dc:creator>
  <cp:lastModifiedBy>Lượng Bùi Văn</cp:lastModifiedBy>
  <cp:revision>1</cp:revision>
  <dcterms:created xsi:type="dcterms:W3CDTF">2026-03-11T07:44:35Z</dcterms:created>
  <dcterms:modified xsi:type="dcterms:W3CDTF">2026-03-12T16:16:00Z</dcterms:modified>
</cp:coreProperties>
</file>